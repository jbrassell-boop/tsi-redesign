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65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5A70C-E98E-44C8-BCB2-A8918AC1509E}" v="892" dt="2026-03-27T16:53:31.68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40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Brassell" userId="bcd6e99e-60e1-4e69-8dc0-7baaae53b10c" providerId="ADAL" clId="{515845E7-43AC-47C8-8887-A25A6B1179BC}"/>
    <pc:docChg chg="undo redo custSel modSld">
      <pc:chgData name="Joe Brassell" userId="bcd6e99e-60e1-4e69-8dc0-7baaae53b10c" providerId="ADAL" clId="{515845E7-43AC-47C8-8887-A25A6B1179BC}" dt="2026-03-27T16:53:32.712" v="15679" actId="20577"/>
      <pc:docMkLst>
        <pc:docMk/>
      </pc:docMkLst>
      <pc:sldChg chg="modSp mod">
        <pc:chgData name="Joe Brassell" userId="bcd6e99e-60e1-4e69-8dc0-7baaae53b10c" providerId="ADAL" clId="{515845E7-43AC-47C8-8887-A25A6B1179BC}" dt="2026-03-27T15:35:51.803" v="15486" actId="6549"/>
        <pc:sldMkLst>
          <pc:docMk/>
          <pc:sldMk cId="0" sldId="256"/>
        </pc:sldMkLst>
        <pc:spChg chg="mod">
          <ac:chgData name="Joe Brassell" userId="bcd6e99e-60e1-4e69-8dc0-7baaae53b10c" providerId="ADAL" clId="{515845E7-43AC-47C8-8887-A25A6B1179BC}" dt="2026-03-27T15:35:07.163" v="15485" actId="20577"/>
          <ac:spMkLst>
            <pc:docMk/>
            <pc:sldMk cId="0" sldId="256"/>
            <ac:spMk id="2" creationId="{00000000-0000-0000-0000-000000000000}"/>
          </ac:spMkLst>
        </pc:spChg>
        <pc:graphicFrameChg chg="mod modGraphic">
          <ac:chgData name="Joe Brassell" userId="bcd6e99e-60e1-4e69-8dc0-7baaae53b10c" providerId="ADAL" clId="{515845E7-43AC-47C8-8887-A25A6B1179BC}" dt="2026-03-27T15:35:51.803" v="15486" actId="6549"/>
          <ac:graphicFrameMkLst>
            <pc:docMk/>
            <pc:sldMk cId="0" sldId="256"/>
            <ac:graphicFrameMk id="4" creationId="{F244842B-778B-73F1-236B-7A5CA68CF1C7}"/>
          </ac:graphicFrameMkLst>
        </pc:graphicFrameChg>
      </pc:sldChg>
      <pc:sldChg chg="modSp mod">
        <pc:chgData name="Joe Brassell" userId="bcd6e99e-60e1-4e69-8dc0-7baaae53b10c" providerId="ADAL" clId="{515845E7-43AC-47C8-8887-A25A6B1179BC}" dt="2026-03-27T15:36:37.963" v="15508" actId="20577"/>
        <pc:sldMkLst>
          <pc:docMk/>
          <pc:sldMk cId="0" sldId="258"/>
        </pc:sldMkLst>
        <pc:graphicFrameChg chg="mod modGraphic">
          <ac:chgData name="Joe Brassell" userId="bcd6e99e-60e1-4e69-8dc0-7baaae53b10c" providerId="ADAL" clId="{515845E7-43AC-47C8-8887-A25A6B1179BC}" dt="2026-03-27T15:36:37.963" v="15508" actId="20577"/>
          <ac:graphicFrameMkLst>
            <pc:docMk/>
            <pc:sldMk cId="0" sldId="258"/>
            <ac:graphicFrameMk id="4" creationId="{F66B1534-7A68-041A-AFEA-495B21B91F03}"/>
          </ac:graphicFrameMkLst>
        </pc:graphicFrameChg>
      </pc:sldChg>
      <pc:sldChg chg="modSp mod">
        <pc:chgData name="Joe Brassell" userId="bcd6e99e-60e1-4e69-8dc0-7baaae53b10c" providerId="ADAL" clId="{515845E7-43AC-47C8-8887-A25A6B1179BC}" dt="2026-03-27T15:52:09.437" v="15560" actId="20577"/>
        <pc:sldMkLst>
          <pc:docMk/>
          <pc:sldMk cId="0" sldId="259"/>
        </pc:sldMkLst>
        <pc:graphicFrameChg chg="mod modGraphic">
          <ac:chgData name="Joe Brassell" userId="bcd6e99e-60e1-4e69-8dc0-7baaae53b10c" providerId="ADAL" clId="{515845E7-43AC-47C8-8887-A25A6B1179BC}" dt="2026-03-27T15:52:09.437" v="15560" actId="20577"/>
          <ac:graphicFrameMkLst>
            <pc:docMk/>
            <pc:sldMk cId="0" sldId="259"/>
            <ac:graphicFrameMk id="4" creationId="{25A1DBA4-D2E5-7358-5E9C-16843F67D48D}"/>
          </ac:graphicFrameMkLst>
        </pc:graphicFrameChg>
      </pc:sldChg>
      <pc:sldChg chg="modSp mod">
        <pc:chgData name="Joe Brassell" userId="bcd6e99e-60e1-4e69-8dc0-7baaae53b10c" providerId="ADAL" clId="{515845E7-43AC-47C8-8887-A25A6B1179BC}" dt="2026-03-27T15:52:34.835" v="15561" actId="20577"/>
        <pc:sldMkLst>
          <pc:docMk/>
          <pc:sldMk cId="0" sldId="261"/>
        </pc:sldMkLst>
        <pc:graphicFrameChg chg="modGraphic">
          <ac:chgData name="Joe Brassell" userId="bcd6e99e-60e1-4e69-8dc0-7baaae53b10c" providerId="ADAL" clId="{515845E7-43AC-47C8-8887-A25A6B1179BC}" dt="2026-03-27T15:52:34.835" v="15561" actId="20577"/>
          <ac:graphicFrameMkLst>
            <pc:docMk/>
            <pc:sldMk cId="0" sldId="261"/>
            <ac:graphicFrameMk id="4" creationId="{A30A165E-A45F-6622-6135-F2A98894C4AA}"/>
          </ac:graphicFrameMkLst>
        </pc:graphicFrameChg>
      </pc:sldChg>
      <pc:sldChg chg="modSp mod">
        <pc:chgData name="Joe Brassell" userId="bcd6e99e-60e1-4e69-8dc0-7baaae53b10c" providerId="ADAL" clId="{515845E7-43AC-47C8-8887-A25A6B1179BC}" dt="2026-03-27T16:53:32.712" v="15679" actId="20577"/>
        <pc:sldMkLst>
          <pc:docMk/>
          <pc:sldMk cId="0" sldId="262"/>
        </pc:sldMkLst>
        <pc:graphicFrameChg chg="mod modGraphic">
          <ac:chgData name="Joe Brassell" userId="bcd6e99e-60e1-4e69-8dc0-7baaae53b10c" providerId="ADAL" clId="{515845E7-43AC-47C8-8887-A25A6B1179BC}" dt="2026-03-27T16:53:32.712" v="15679" actId="20577"/>
          <ac:graphicFrameMkLst>
            <pc:docMk/>
            <pc:sldMk cId="0" sldId="262"/>
            <ac:graphicFrameMk id="4" creationId="{95F057BF-F033-37A2-63A5-33104A916D24}"/>
          </ac:graphicFrameMkLst>
        </pc:graphicFrameChg>
      </pc:sldChg>
      <pc:sldChg chg="addSp delSp modSp mod">
        <pc:chgData name="Joe Brassell" userId="bcd6e99e-60e1-4e69-8dc0-7baaae53b10c" providerId="ADAL" clId="{515845E7-43AC-47C8-8887-A25A6B1179BC}" dt="2026-03-10T13:27:41.292" v="12862" actId="6549"/>
        <pc:sldMkLst>
          <pc:docMk/>
          <pc:sldMk cId="0" sldId="263"/>
        </pc:sldMkLst>
        <pc:graphicFrameChg chg="modGraphic">
          <ac:chgData name="Joe Brassell" userId="bcd6e99e-60e1-4e69-8dc0-7baaae53b10c" providerId="ADAL" clId="{515845E7-43AC-47C8-8887-A25A6B1179BC}" dt="2026-03-10T13:27:41.292" v="12862" actId="6549"/>
          <ac:graphicFrameMkLst>
            <pc:docMk/>
            <pc:sldMk cId="0" sldId="263"/>
            <ac:graphicFrameMk id="4" creationId="{8A909D22-FED9-1821-D71B-5D67DFB7054E}"/>
          </ac:graphicFrameMkLst>
        </pc:graphicFrameChg>
      </pc:sldChg>
      <pc:sldChg chg="modSp mod">
        <pc:chgData name="Joe Brassell" userId="bcd6e99e-60e1-4e69-8dc0-7baaae53b10c" providerId="ADAL" clId="{515845E7-43AC-47C8-8887-A25A6B1179BC}" dt="2026-03-27T15:37:20.258" v="15516" actId="6549"/>
        <pc:sldMkLst>
          <pc:docMk/>
          <pc:sldMk cId="2102237969" sldId="265"/>
        </pc:sldMkLst>
        <pc:graphicFrameChg chg="mod modGraphic">
          <ac:chgData name="Joe Brassell" userId="bcd6e99e-60e1-4e69-8dc0-7baaae53b10c" providerId="ADAL" clId="{515845E7-43AC-47C8-8887-A25A6B1179BC}" dt="2026-03-27T15:37:20.258" v="15516" actId="6549"/>
          <ac:graphicFrameMkLst>
            <pc:docMk/>
            <pc:sldMk cId="2102237969" sldId="265"/>
            <ac:graphicFrameMk id="3" creationId="{805ED331-CFF4-B6D7-D812-3E1C2377E63A}"/>
          </ac:graphicFrameMkLst>
        </pc:graphicFrameChg>
        <pc:graphicFrameChg chg="modGraphic">
          <ac:chgData name="Joe Brassell" userId="bcd6e99e-60e1-4e69-8dc0-7baaae53b10c" providerId="ADAL" clId="{515845E7-43AC-47C8-8887-A25A6B1179BC}" dt="2026-03-27T15:37:16.214" v="15515" actId="20577"/>
          <ac:graphicFrameMkLst>
            <pc:docMk/>
            <pc:sldMk cId="2102237969" sldId="265"/>
            <ac:graphicFrameMk id="4" creationId="{F5BDCDFE-EF61-942E-18B8-0020F4BF875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D01C-5DCD-6341-E9D0-1CEA1F57F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9E140-CF23-CD97-60D3-329587481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EA73-0BA7-CC8B-A2B7-C75F1DAC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4785A-F311-BFE2-F00E-06A22ED6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3B787-81C4-C9CF-A302-E8AF0CB5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6F51-073D-E0FE-9037-B94949C6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34E5-DC98-27F8-12CF-21507E5AB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3A7F2-C7A8-90E3-E0F8-A2C12212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B8786-2994-C624-A79B-C1F3FF16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E6C17-7320-F7F2-85D6-CAE0CFAF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1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738F-3EE9-5D3F-E6CD-F4982498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6ACEB-6549-F533-D2F2-142C4CD0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689F-F0E1-8E88-3D98-90CB1BDE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0B8BB-0913-D179-B63B-A292672E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C2F4E-4CE6-AD44-253C-F385286E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3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5A4E-BD37-1DD3-44C1-360A2324B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9DCDD-EBF9-52FC-74F2-5CE2FF492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1EE40-77D1-7E16-294B-268F239C3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BAADB-E878-220E-A80D-594C6470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D0F1A-3C4A-4A49-64D8-12FF908EF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5D79-B47E-53BD-97B6-7649265C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0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779B-22A0-F25F-2002-26B27EB6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064E0-731D-56DF-31CA-C1DCB7C4F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00B3A-FD68-FA47-5602-A86B7B1A9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09725-3E5B-7177-1E23-B4C27D593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8C398-3B7E-149D-CB72-8103B2DE0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EDD30-6147-3CFE-DBE5-CE3F2D49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77055-F11F-8F33-571A-6780FDE2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493AE-C553-7CA5-80BB-5D997907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8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971B-7C44-1B56-DBB8-E2458412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5AB29-F4B9-BB46-6018-3E490D4E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17235-3603-5C64-531B-72293A4B4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3C127-A540-5C13-42E1-487DDF6C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6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4EC05-22C8-C3BB-36F9-39439446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514C2-7DFC-1AFD-EA23-797F00FE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61E7C-5338-99AE-257E-54D464C2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9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0AD1-283B-A08A-D091-5FF2ED3B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2203E-1B7D-6A92-F46E-97316BB4F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16B51-637F-CCE6-D222-5FD462C03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68BE3-D9FF-C680-A177-04F869E1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EBC8F-029A-4D30-8F08-025F559C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25564-1518-D15F-B717-167B629F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1591-37BE-F6E5-6219-3DE55274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D5090-54E4-2428-A894-323B32F53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A763-2344-9BA3-B984-9E774053F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67FD0-FB01-CB5C-BE15-40CBB070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A5992-215D-A06A-A6D0-F1B709E6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819E6-CCEB-4487-6AC0-BCAB100C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4671-6CAE-C517-490F-59AD2845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DB9B7-E50D-78D0-8590-E8804B57D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6F9E-E155-A688-3A79-07285253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174A3-C312-F9DF-EF83-39175C3D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4DDDD-0A64-E200-05F3-A2D55C7E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1449C-7116-D1C6-F0A7-4EC7CE8DF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834DD-CFAD-EF64-1926-2FB57BDA7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68F41-F024-DF63-258F-1A434861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9A4D1-92B3-EF95-2EF2-5464E452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932EB-3454-BD04-42B8-13E6D933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8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54799-8429-8FA6-531A-7A20088B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75E63-00DB-BFB3-9E7C-833571A46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36576-1176-7DDF-713A-E62B3E51D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BBF67-D1E6-649A-B670-1225E9817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7EE7E-B54B-8B9D-E731-D438CF1F4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2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841273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Staffing &amp; Coverage Adjustments</a:t>
            </a: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dirty="0">
                <a:solidFill>
                  <a:srgbClr val="FFFFFF"/>
                </a:solidFill>
              </a:rPr>
              <a:t>March 27th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44842B-778B-73F1-236B-7A5CA68CF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25508"/>
              </p:ext>
            </p:extLst>
          </p:nvPr>
        </p:nvGraphicFramePr>
        <p:xfrm>
          <a:off x="108155" y="1655276"/>
          <a:ext cx="9035845" cy="1350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169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103702075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1939478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Primary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Impact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Adjustment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490047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79713"/>
                  </a:ext>
                </a:extLst>
              </a:tr>
              <a:tr h="490047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01919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828223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Operational Focus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323" y="4554992"/>
            <a:ext cx="8935359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• Win the day</a:t>
            </a:r>
          </a:p>
          <a:p>
            <a:pPr algn="l"/>
            <a:r>
              <a:rPr lang="en-US" dirty="0"/>
              <a:t>• Hold the Standard.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810793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Flow – Previous Work Day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6B1534-7A68-041A-AFEA-495B21B91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063361"/>
              </p:ext>
            </p:extLst>
          </p:nvPr>
        </p:nvGraphicFramePr>
        <p:xfrm>
          <a:off x="60830" y="1642393"/>
          <a:ext cx="9035845" cy="2271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169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103702075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1939478629"/>
                    </a:ext>
                  </a:extLst>
                </a:gridCol>
              </a:tblGrid>
              <a:tr h="417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 (Arrived)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Closed Out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Missed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LD Flex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49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SD Flex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Rigid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690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31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516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7BD39-2311-5996-C45C-1EE49E56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848D6A-48B6-1CDD-70B0-72E6583D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B24B65-71AA-25BC-8236-985A6F284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96C43-F386-E308-C22E-E16CB762E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D1E37-D3DB-E6D2-24E3-C608DD608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03B5F-9DFE-B963-5080-CF73A0C2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810793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Missed Commitments – Yesterday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BDCDFE-EF61-942E-18B8-0020F4BF8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329164"/>
              </p:ext>
            </p:extLst>
          </p:nvPr>
        </p:nvGraphicFramePr>
        <p:xfrm>
          <a:off x="54075" y="1662728"/>
          <a:ext cx="9042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200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3014200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3014200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Defect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49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Inspection Deadline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Loaner Fulfillment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17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Delivery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941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5ED331-CFF4-B6D7-D812-3E1C2377E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30210"/>
              </p:ext>
            </p:extLst>
          </p:nvPr>
        </p:nvGraphicFramePr>
        <p:xfrm>
          <a:off x="60830" y="3788416"/>
          <a:ext cx="9035845" cy="733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169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103702075"/>
                    </a:ext>
                  </a:extLst>
                </a:gridCol>
                <a:gridCol w="1807169">
                  <a:extLst>
                    <a:ext uri="{9D8B030D-6E8A-4147-A177-3AD203B41FA5}">
                      <a16:colId xmlns:a16="http://schemas.microsoft.com/office/drawing/2014/main" val="1939478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Scope Type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Serial Number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Reason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Update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36250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US" sz="13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buNone/>
                      </a:pPr>
                      <a:endParaRPr lang="en-US" sz="13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buNone/>
                      </a:pPr>
                      <a:endParaRPr lang="en-US" sz="13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buNone/>
                      </a:pPr>
                      <a:endParaRPr lang="en-US" sz="13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US" sz="13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49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3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843240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In-House Production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A1DBA4-D2E5-7358-5E9C-16843F67D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13354"/>
              </p:ext>
            </p:extLst>
          </p:nvPr>
        </p:nvGraphicFramePr>
        <p:xfrm>
          <a:off x="54075" y="1662727"/>
          <a:ext cx="8991605" cy="4768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5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1284515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1284515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  <a:gridCol w="1428055">
                  <a:extLst>
                    <a:ext uri="{9D8B030D-6E8A-4147-A177-3AD203B41FA5}">
                      <a16:colId xmlns:a16="http://schemas.microsoft.com/office/drawing/2014/main" val="103702075"/>
                    </a:ext>
                  </a:extLst>
                </a:gridCol>
                <a:gridCol w="1140975">
                  <a:extLst>
                    <a:ext uri="{9D8B030D-6E8A-4147-A177-3AD203B41FA5}">
                      <a16:colId xmlns:a16="http://schemas.microsoft.com/office/drawing/2014/main" val="1939478629"/>
                    </a:ext>
                  </a:extLst>
                </a:gridCol>
                <a:gridCol w="1284515">
                  <a:extLst>
                    <a:ext uri="{9D8B030D-6E8A-4147-A177-3AD203B41FA5}">
                      <a16:colId xmlns:a16="http://schemas.microsoft.com/office/drawing/2014/main" val="3168601443"/>
                    </a:ext>
                  </a:extLst>
                </a:gridCol>
                <a:gridCol w="1284515">
                  <a:extLst>
                    <a:ext uri="{9D8B030D-6E8A-4147-A177-3AD203B41FA5}">
                      <a16:colId xmlns:a16="http://schemas.microsoft.com/office/drawing/2014/main" val="1056330099"/>
                    </a:ext>
                  </a:extLst>
                </a:gridCol>
              </a:tblGrid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Scope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Repair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WO# OPEN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On Bench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Weekly Out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Weekly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Surplus/Gap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498824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04380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Major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7690"/>
                  </a:ext>
                </a:extLst>
              </a:tr>
              <a:tr h="55336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850644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690826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Major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641626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Rigid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086925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Cameras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710406"/>
                  </a:ext>
                </a:extLst>
              </a:tr>
              <a:tr h="468396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3805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Instruments Plan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0A165E-A45F-6622-6135-F2A98894C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935629"/>
              </p:ext>
            </p:extLst>
          </p:nvPr>
        </p:nvGraphicFramePr>
        <p:xfrm>
          <a:off x="54075" y="1655276"/>
          <a:ext cx="8981772" cy="144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443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2245443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2245443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  <a:gridCol w="2245443">
                  <a:extLst>
                    <a:ext uri="{9D8B030D-6E8A-4147-A177-3AD203B41FA5}">
                      <a16:colId xmlns:a16="http://schemas.microsoft.com/office/drawing/2014/main" val="103702075"/>
                    </a:ext>
                  </a:extLst>
                </a:gridCol>
              </a:tblGrid>
              <a:tr h="33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Channel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WO# Open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Today/Tomorrow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Waiting for Quotes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 House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49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Outsourced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Van Service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5837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831441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Delay Tracking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F057BF-F033-37A2-63A5-33104A916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355675"/>
              </p:ext>
            </p:extLst>
          </p:nvPr>
        </p:nvGraphicFramePr>
        <p:xfrm>
          <a:off x="54075" y="1655277"/>
          <a:ext cx="8981770" cy="268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389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  <a:gridCol w="2092346">
                  <a:extLst>
                    <a:ext uri="{9D8B030D-6E8A-4147-A177-3AD203B41FA5}">
                      <a16:colId xmlns:a16="http://schemas.microsoft.com/office/drawing/2014/main" val="832876318"/>
                    </a:ext>
                  </a:extLst>
                </a:gridCol>
                <a:gridCol w="1012605">
                  <a:extLst>
                    <a:ext uri="{9D8B030D-6E8A-4147-A177-3AD203B41FA5}">
                      <a16:colId xmlns:a16="http://schemas.microsoft.com/office/drawing/2014/main" val="2456021855"/>
                    </a:ext>
                  </a:extLst>
                </a:gridCol>
                <a:gridCol w="1047431">
                  <a:extLst>
                    <a:ext uri="{9D8B030D-6E8A-4147-A177-3AD203B41FA5}">
                      <a16:colId xmlns:a16="http://schemas.microsoft.com/office/drawing/2014/main" val="3998504269"/>
                    </a:ext>
                  </a:extLst>
                </a:gridCol>
                <a:gridCol w="1082809">
                  <a:extLst>
                    <a:ext uri="{9D8B030D-6E8A-4147-A177-3AD203B41FA5}">
                      <a16:colId xmlns:a16="http://schemas.microsoft.com/office/drawing/2014/main" val="619513651"/>
                    </a:ext>
                  </a:extLst>
                </a:gridCol>
                <a:gridCol w="2665190">
                  <a:extLst>
                    <a:ext uri="{9D8B030D-6E8A-4147-A177-3AD203B41FA5}">
                      <a16:colId xmlns:a16="http://schemas.microsoft.com/office/drawing/2014/main" val="103702075"/>
                    </a:ext>
                  </a:extLst>
                </a:gridCol>
              </a:tblGrid>
              <a:tr h="233821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Customer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WO#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SN#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Status / Due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32587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More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St. Joseph’s Wayne Medical Center - NJ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NR26047009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EC 3890LI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A110707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Checking with customer how to proceed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563598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Root Cause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St. Joseph’s Wayne Medical Center - NJ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NR26077014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ED 34-i10T2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A110030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Trying to return to vendor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249962"/>
                  </a:ext>
                </a:extLst>
              </a:tr>
              <a:tr h="27933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More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Baylor College of Medicine - TX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NR26082015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CYF-VH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2301165C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Check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506997"/>
                  </a:ext>
                </a:extLst>
              </a:tr>
              <a:tr h="26209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More info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Scope South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NR26084005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11102CM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69361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Waiting on more info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34199"/>
                  </a:ext>
                </a:extLst>
              </a:tr>
              <a:tr h="26209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More info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Northern Light Mercy Hospital - 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NR26085003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PCF HQ190L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2103011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Emailed 03/25/2026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08800"/>
                  </a:ext>
                </a:extLst>
              </a:tr>
              <a:tr h="26209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More info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Stanford Health Care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NR26085010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GIF XP190N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2336205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Emailed 03/25/2026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515095"/>
                  </a:ext>
                </a:extLst>
              </a:tr>
              <a:tr h="26209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Outsourced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HCA Florida South Tampa Hospital - FL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NR26085004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BF UC180F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1111025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Update early next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935729"/>
                  </a:ext>
                </a:extLst>
              </a:tr>
              <a:tr h="26209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Outsourced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Childrens</a:t>
                      </a: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Hospital of Philadelphia - KOP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NR26085019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Arthrex Coupler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A004362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Update early next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5054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>
                <a:solidFill>
                  <a:srgbClr val="FFFFFF"/>
                </a:solidFill>
              </a:rPr>
              <a:t>Anything Else?  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909D22-FED9-1821-D71B-5D67DFB70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131259"/>
              </p:ext>
            </p:extLst>
          </p:nvPr>
        </p:nvGraphicFramePr>
        <p:xfrm>
          <a:off x="81112" y="1655275"/>
          <a:ext cx="898250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501">
                  <a:extLst>
                    <a:ext uri="{9D8B030D-6E8A-4147-A177-3AD203B41FA5}">
                      <a16:colId xmlns:a16="http://schemas.microsoft.com/office/drawing/2014/main" val="2877354524"/>
                    </a:ext>
                  </a:extLst>
                </a:gridCol>
              </a:tblGrid>
              <a:tr h="1980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6597"/>
                  </a:ext>
                </a:extLst>
              </a:tr>
              <a:tr h="2219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498824"/>
                  </a:ext>
                </a:extLst>
              </a:tr>
              <a:tr h="2219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7690"/>
                  </a:ext>
                </a:extLst>
              </a:tr>
              <a:tr h="2219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5837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2265</TotalTime>
  <Words>347</Words>
  <Application>Microsoft Office PowerPoint</Application>
  <PresentationFormat>On-screen Show (4:3)</PresentationFormat>
  <Paragraphs>203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Office Theme</vt:lpstr>
      <vt:lpstr>Staffing &amp; Coverage Adjustments March 27th, 2026</vt:lpstr>
      <vt:lpstr>Operational Focus</vt:lpstr>
      <vt:lpstr>Overall Flow – Previous Work Day </vt:lpstr>
      <vt:lpstr>Missed Commitments – Yesterday</vt:lpstr>
      <vt:lpstr>In-House Production Plan</vt:lpstr>
      <vt:lpstr>Instruments Plan </vt:lpstr>
      <vt:lpstr>Delay Tracking</vt:lpstr>
      <vt:lpstr>Anything Else?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Joe Brassell</dc:creator>
  <cp:keywords/>
  <dc:description>generated using python-pptx</dc:description>
  <cp:lastModifiedBy>Joe Brassell</cp:lastModifiedBy>
  <cp:revision>3</cp:revision>
  <dcterms:created xsi:type="dcterms:W3CDTF">2013-01-27T09:14:16Z</dcterms:created>
  <dcterms:modified xsi:type="dcterms:W3CDTF">2026-03-27T16:53:33Z</dcterms:modified>
  <cp:category/>
</cp:coreProperties>
</file>